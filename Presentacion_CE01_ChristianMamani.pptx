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Calibri"/>
              </a:defRPr>
            </a:pPr>
            <a:r>
              <a:t>YatiqApp</a:t>
            </a:r>
          </a:p>
          <a:p>
            <a:pPr>
              <a:defRPr sz="2400">
                <a:solidFill>
                  <a:srgbClr val="B2F5EA"/>
                </a:solidFill>
                <a:latin typeface="Calibri"/>
              </a:defRPr>
            </a:pPr>
            <a:r>
              <a:t>Copiloto de Inteligencia Artificial Offline para la Educación Bilingüe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</a:pPr>
            <a:r>
              <a:rPr b="1" sz="1600">
                <a:solidFill>
                  <a:srgbClr val="FFFFFF"/>
                </a:solidFill>
              </a:rPr>
              <a:t>Línea de Evaluación: </a:t>
            </a:r>
            <a:r>
              <a:rPr sz="1600">
                <a:solidFill>
                  <a:srgbClr val="FFFFFF"/>
                </a:solidFill>
              </a:rPr>
              <a:t>CE01 - Gestión de Tecnologías de Información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FFFFFF"/>
                </a:solidFill>
              </a:rPr>
              <a:t>Responsable: </a:t>
            </a:r>
            <a:r>
              <a:rPr sz="1600">
                <a:solidFill>
                  <a:srgbClr val="FFFFFF"/>
                </a:solidFill>
              </a:rPr>
              <a:t>Christian Rafael Mamani Callata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FFFFFF"/>
                </a:solidFill>
              </a:rPr>
              <a:t>Caso de Estudio: </a:t>
            </a:r>
            <a:r>
              <a:rPr sz="1600">
                <a:solidFill>
                  <a:srgbClr val="FFFFFF"/>
                </a:solidFill>
              </a:rPr>
              <a:t>I.E. Agropecuario Sorapa (Juli, Chucuito, Puno)</a:t>
            </a:r>
          </a:p>
          <a:p>
            <a:pPr>
              <a:spcBef>
                <a:spcPts val="600"/>
              </a:spcBef>
            </a:pPr>
            <a:r>
              <a:rPr b="1" sz="1600">
                <a:solidFill>
                  <a:srgbClr val="FFFFFF"/>
                </a:solidFill>
              </a:rPr>
              <a:t>Semestre / Fase: </a:t>
            </a:r>
            <a:r>
              <a:rPr sz="1600">
                <a:solidFill>
                  <a:srgbClr val="FFFFFF"/>
                </a:solidFill>
              </a:rPr>
              <a:t>2026-I | Semana 8 (Fase de Cierre y Pruebas Piloto)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YatiqApp | Gestión de TI (CE01) - Christian Rafael Mamani Callata | Caso de Estudio: I.E. Agropecuario Sorapa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Calibri"/>
              </a:defRPr>
            </a:pPr>
            <a:r>
              <a:t>Diagnóstico Organizacional y Línea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Contexto de la I.E. Agropecuario Sorapa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Ubicación: Comunidad rural de Sorapa, Distrito de Juli, Chucuito, Puno.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Características: Educación Secundaria Pública, ~32 estudiantes, 9 docentes y 5 secciones.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Variantes Lingüísticas: Coexistencia de Aymara, Quechua Collao y Castellano.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Problema: Brecha de autoaprendizaje bilingüe en textos del MINEDU diseñados principalmente en español, sin soporte interactivo local.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Restricciones de Infraestructura de TI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Conectividad: Acceso a Internet eventual, limitado o intermitente. Inhabilita APIs de IA en la nube (Cloud-based AI).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Hardware: Smartphones de gama baja/media (RAM &lt;= 4 GB) de estudiantes y padres de familia.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Suministro Eléctrico: Inestable en la zona rural; depende del UPS básico de 1000-1500 VA en el microcentro (CE03).</a:t>
            </a:r>
          </a:p>
          <a:p>
            <a:pPr>
              <a:spcBef>
                <a:spcPts val="1000"/>
              </a:spcBef>
              <a:defRPr sz="1400">
                <a:solidFill>
                  <a:srgbClr val="2D3748"/>
                </a:solidFill>
              </a:defRPr>
            </a:pPr>
            <a:r>
              <a:t>• Justificación de Solución: Inferencia local en el borde (On-Device AI) con modelos optimizados y base de datos vectorial local (RAG).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YatiqApp | Gestión de TI (CE01) - Christian Rafael Mamani Callata | Caso de Estudio: I.E. Agropecuario Sorapa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Calibri"/>
              </a:defRPr>
            </a:pPr>
            <a:r>
              <a:t>FODA Tecnológico y Alineamiento Estratégico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A365D"/>
                </a:solidFill>
              </a:defRPr>
            </a:pPr>
            <a:r>
              <a:t>Matriz FODA Tecnológica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19795"/>
                </a:solidFill>
              </a:rPr>
              <a:t>Fortalezas (F): </a:t>
            </a:r>
            <a:r>
              <a:rPr sz="1300">
                <a:solidFill>
                  <a:srgbClr val="2D3748"/>
                </a:solidFill>
              </a:rPr>
              <a:t>Docentes bilingües con experiencia EIB; disponibilidad de smartphones de uso familiar; currícula validada.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19795"/>
                </a:solidFill>
              </a:rPr>
              <a:t>Debilidades (D): </a:t>
            </a:r>
            <a:r>
              <a:rPr sz="1300">
                <a:solidFill>
                  <a:srgbClr val="2D3748"/>
                </a:solidFill>
              </a:rPr>
              <a:t>Falta de herramientas de IA adaptadas a la fonética y gramática local; limitaciones de hardware en terminales móviles.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19795"/>
                </a:solidFill>
              </a:rPr>
              <a:t>Oportunidades (O): </a:t>
            </a:r>
            <a:r>
              <a:rPr sz="1300">
                <a:solidFill>
                  <a:srgbClr val="2D3748"/>
                </a:solidFill>
              </a:rPr>
              <a:t>Modelos de Lenguaje Pequeños (SLMs) cuantizados a 4 bits; frameworks de inferencia móvil (LLaMA.cpp/MediaPipe).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19795"/>
                </a:solidFill>
              </a:rPr>
              <a:t>Amenazas (A): </a:t>
            </a:r>
            <a:r>
              <a:rPr sz="1300">
                <a:solidFill>
                  <a:srgbClr val="2D3748"/>
                </a:solidFill>
              </a:rPr>
              <a:t>Brecha de conectividad rural persistente; rápida obsolescencia de celulares de gama baja.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Alineamiento Estratégico Multivel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Internacional (ODS 4 y 10): Inclusión digital y educación de calidad para minorías lingüísticas altoandinas.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Nacional (PCM - Transformación Digital): Eje de Inclusión Digital en el territorio rural superando barreras de conectividad.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Nacional (PEN al 2036 / MINEDU): Revalorización y preservación del Aymara y Quechua Collao como lenguas de instrucción.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Regional (PDRC Puno): Foco en la mejora de compresión lectora y rendimiento académico en zonas rurales altoandinas.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YatiqApp | Gestión de TI (CE01) - Christian Rafael Mamani Callata | Caso de Estudio: I.E. Agropecuario Sorapa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Calibri"/>
              </a:defRPr>
            </a:pPr>
            <a:r>
              <a:t>Business Case y Objetivos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A365D"/>
                </a:solidFill>
              </a:defRPr>
            </a:pPr>
            <a:r>
              <a:t>Objetivos SMART del Proyecto</a:t>
            </a:r>
          </a:p>
          <a:p>
            <a:pPr>
              <a:spcBef>
                <a:spcPts val="600"/>
              </a:spcBef>
              <a:defRPr sz="1300">
                <a:solidFill>
                  <a:srgbClr val="2D3748"/>
                </a:solidFill>
              </a:defRPr>
            </a:pPr>
            <a:r>
              <a:t>• General: Prototipo de asistente virtual offline (Quechua/Aymara) ejecutable en celulares Android con RAM &lt; 1.5 GB en un plazo de 2 meses.</a:t>
            </a:r>
          </a:p>
          <a:p>
            <a:pPr>
              <a:spcBef>
                <a:spcPts val="600"/>
              </a:spcBef>
              <a:defRPr sz="1300">
                <a:solidFill>
                  <a:srgbClr val="2D3748"/>
                </a:solidFill>
              </a:defRPr>
            </a:pPr>
            <a:r>
              <a:t>• Específico (S): Cuantización PTQ a 4 bits de un modelo liviano (Gemma-2B o Phi-3-mini) para ejecución local en CPU/GPU móvil.</a:t>
            </a:r>
          </a:p>
          <a:p>
            <a:pPr>
              <a:spcBef>
                <a:spcPts val="600"/>
              </a:spcBef>
              <a:defRPr sz="1300">
                <a:solidFill>
                  <a:srgbClr val="2D3748"/>
                </a:solidFill>
              </a:defRPr>
            </a:pPr>
            <a:r>
              <a:t>• Medible (M): Latencia (Time-to-First-Token) &lt; 2.5 segundos.</a:t>
            </a:r>
          </a:p>
          <a:p>
            <a:pPr>
              <a:spcBef>
                <a:spcPts val="600"/>
              </a:spcBef>
              <a:defRPr sz="1300">
                <a:solidFill>
                  <a:srgbClr val="2D3748"/>
                </a:solidFill>
              </a:defRPr>
            </a:pPr>
            <a:r>
              <a:t>• Alcanzable (A): Inyección curricular mediante motor RAG local y base vectorial embebida en SQLite.</a:t>
            </a:r>
          </a:p>
          <a:p>
            <a:pPr>
              <a:spcBef>
                <a:spcPts val="600"/>
              </a:spcBef>
              <a:defRPr sz="1300">
                <a:solidFill>
                  <a:srgbClr val="2D3748"/>
                </a:solidFill>
              </a:defRPr>
            </a:pPr>
            <a:r>
              <a:t>• Relevante (R): Interfaz de voz local (STT/TTS) para superar barreras de alfabetización escrita y digital.</a:t>
            </a:r>
          </a:p>
          <a:p>
            <a:pPr>
              <a:spcBef>
                <a:spcPts val="600"/>
              </a:spcBef>
              <a:defRPr sz="1300">
                <a:solidFill>
                  <a:srgbClr val="2D3748"/>
                </a:solidFill>
              </a:defRPr>
            </a:pPr>
            <a:r>
              <a:t>• Temporal (T): Conclusión en un ciclo de 8 semanas (Fase actual: Semana 8 de cierre).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Justificación del Caso de Negocio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Ahorro de Conectividad: Costo recurrente de datos móviles para alumnos/docentes de S/. 0.00 al ser 100% offline.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Costo de Servidores Nube: Inferencia local en el celular del usuario, anulando costos recurrentes de AWS/Azure.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Reutilización de Recursos: Aprovecha smartphones familiares y la red LAN/servidor preexistente en la escuela (CE03).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KPIs Clave:</a:t>
            </a:r>
            <a:br/>
            <a:r>
              <a:t>- Tasa de Uso Offline (TUO): 100% de consultas locales.</a:t>
            </a:r>
            <a:br/>
            <a:r>
              <a:t>- Latencia Crítica (LC): Promedio de 2.2 segundos.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YatiqApp | Gestión de TI (CE01) - Christian Rafael Mamani Callata | Caso de Estudio: I.E. Agropecuario Sorapa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Calibri"/>
              </a:defRPr>
            </a:pPr>
            <a:r>
              <a:t>Análisis de Alternativas Tecnológicas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Criterio de Evaluación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Alt. A: Cloud AI (En la Nube)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Alt. B: Servidor Local (Ollama)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Alt. C: On-Device AI (Seleccionada)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D3748"/>
                          </a:solidFill>
                        </a:defRPr>
                      </a:pPr>
                      <a:r>
                        <a:t>Independencia de Conectividad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1 (Deficiente - Dependencia total)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5 (Excelente - Red interna)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5 (Excelente - Funciona en cualquier lugar)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D3748"/>
                          </a:solidFill>
                        </a:defRPr>
                      </a:pPr>
                      <a:r>
                        <a:t>Costo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2 (Regular - Consumo recurrente cloud)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2 (Regular - Servidor dedicado por escuela)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5 (Excelente - Costo marginal cero)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D3748"/>
                          </a:solidFill>
                        </a:defRPr>
                      </a:pPr>
                      <a:r>
                        <a:t>Portabilidad y Usabilidad Móvil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5 (Excelente - Apps ligeras)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3 (Malo - Cobertura limitada del 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5 (Excelente - Procesamiento local 24/7)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D3748"/>
                          </a:solidFill>
                        </a:defRPr>
                      </a:pPr>
                      <a:r>
                        <a:t>Rendimiento en Hardware Limitado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5 (Excelente - Inferencia en la nube)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4 (Bueno - Inferencia en servidor 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3 (Regular - Alta exigencia de optimización)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D3748"/>
                </a:solidFill>
              </a:defRPr>
            </a:pPr>
            <a:r>
              <a:t>Sustento de la Selección: La Alternativa C (On-Device AI) obtuvo 18 puntos (frente a 13 de Cloud y 14 de Servidor). Aunque requiere una optimización rigurosa del hardware del teléfono (cuantización), elimina la brecha de conectividad y los costos de infraestructura recurrente.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YatiqApp | Gestión de TI (CE01) - Christian Rafael Mamani Callata | Caso de Estudio: I.E. Agropecuario Sorapa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Calibri"/>
              </a:defRPr>
            </a:pPr>
            <a:r>
              <a:t>Plan de Gestión: Enfoque Híbrido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A365D"/>
                </a:solidFill>
              </a:defRPr>
            </a:pPr>
            <a:r>
              <a:t>Control Predictivo (PMI)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Alcance: Delimitado mediante EDT/WBS. Excluye soporte para iOS, provisión de dispositivos y actualizaciones del plan oficial.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WBS/EDT (5 Fases):</a:t>
            </a:r>
            <a:br/>
            <a:r>
              <a:t>- 1.1 Ingesta de Datos (Corpus)</a:t>
            </a:r>
            <a:br/>
            <a:r>
              <a:t>- 1.2 Ingeniería de IA y Optimización</a:t>
            </a:r>
            <a:br/>
            <a:r>
              <a:t>- 1.3 Desarrollo de Software Móvil</a:t>
            </a:r>
            <a:br/>
            <a:r>
              <a:t>- 1.4 Pruebas, Despliegue y Piloto</a:t>
            </a:r>
            <a:br/>
            <a:r>
              <a:t>- 1.5 Gestión de Proyecto y Tesis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Entregables Críticos:</a:t>
            </a:r>
            <a:br/>
            <a:r>
              <a:t>- Dataset bilingüe estructurado de secundaria (JSON/MD).</a:t>
            </a:r>
            <a:br/>
            <a:r>
              <a:t>- Modelo SLM optimizado (binario &lt; 1.8 GB).</a:t>
            </a:r>
            <a:br/>
            <a:r>
              <a:t>- Aplicación móvil (APK) instalable.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Gestión Ágil (Scrum - Construcción)</a:t>
            </a:r>
          </a:p>
          <a:p>
            <a:pPr>
              <a:spcBef>
                <a:spcPts val="1000"/>
              </a:spcBef>
              <a:defRPr sz="1300">
                <a:solidFill>
                  <a:srgbClr val="2D3748"/>
                </a:solidFill>
              </a:defRPr>
            </a:pPr>
            <a:r>
              <a:t>• Historias de Usuario (HU):</a:t>
            </a:r>
            <a:br/>
            <a:r>
              <a:t>- HU01: Interacción por voz (STT/TTS) para evitar barrera de escritura.</a:t>
            </a:r>
            <a:br/>
            <a:r>
              <a:t>- HU02: Operación offline autónoma en el aula.</a:t>
            </a:r>
            <a:br/>
            <a:r>
              <a:t>- HU03: Repositorio de vectores locales para controlar la calidad.</a:t>
            </a:r>
          </a:p>
          <a:p>
            <a:pPr>
              <a:spcBef>
                <a:spcPts val="1000"/>
              </a:spcBef>
              <a:defRPr sz="1300">
                <a:solidFill>
                  <a:srgbClr val="2D3748"/>
                </a:solidFill>
              </a:defRPr>
            </a:pPr>
            <a:r>
              <a:t>• Sprints de Desarrollo (4 Sprints de 2 Semanas):</a:t>
            </a:r>
            <a:br/>
            <a:r>
              <a:t>- Sprint 1: IA Core (Ingesta de corpus y embeddings).</a:t>
            </a:r>
            <a:br/>
            <a:r>
              <a:t>- Sprint 2: Cuantización PTQ a 4 bits del SLM.</a:t>
            </a:r>
            <a:br/>
            <a:r>
              <a:t>- Sprint 3: App Bridge (Bindings C++ nativos en Android).</a:t>
            </a:r>
            <a:br/>
            <a:r>
              <a:t>- Sprint 4: Voice &amp; UI (Whisper, Piper y vistas gamificadas).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YatiqApp | Gestión de TI (CE01) - Christian Rafael Mamani Callata | Caso de Estudio: I.E. Agropecuario Sorapa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Calibri"/>
              </a:defRPr>
            </a:pPr>
            <a:r>
              <a:t>Cronograma Real y Presupuesto de Desarrollo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A365D"/>
                </a:solidFill>
              </a:defRPr>
            </a:pPr>
            <a:r>
              <a:t>Cronograma y Estado de Hitos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Fases de Ejecución: Duración total de 2 meses, habiendo iniciado el 18 de mayo de 2026. Conclusión programada para la próxima semana (17 de julio de 2026). En fase actual de pruebas piloto (Semana 8).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Hito 1 (Sem. 2): Corpus de secundaria validado (Mayo 29) - Completado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Hito 2 (Sem. 4): Motor RAG local en SQLite (Junio 12) - Completado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Hito 3 (Sem. 6): APK compilada para Android (Junio 26) - Completado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Hito 4 (Sem. 8): Piloto finalizado en Sorapa (Julio 17) - En ejecución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Presupuesto Detallado (S/. 3,500.00)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Uso de hardware y licencias libres: S/. 0.00.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Descargas de modelos y conectividad puntual: S/. 450.00.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Curación del dataset con docentes en Sorapa: S/. 600.00.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Accesorios y adaptadores para smartphones: S/. 850.00.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Viáticos y logística de campo (Juli-Sorapa): S/. 600.00.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Desarrollo de software y documentación técnica: S/. 1,000.00.</a:t>
            </a:r>
          </a:p>
          <a:p>
            <a:pPr>
              <a:spcBef>
                <a:spcPts val="600"/>
              </a:spcBef>
              <a:defRPr sz="1200">
                <a:solidFill>
                  <a:srgbClr val="2D3748"/>
                </a:solidFill>
              </a:defRPr>
            </a:pPr>
            <a:r>
              <a:t>• Soporte Físico (CE03): La adquisición de computadoras, APs, UPS y switch es de S/. 0.00 por reutilización de la infraestructura existente de la I.E. Sorapa.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YatiqApp | Gestión de TI (CE01) - Christian Rafael Mamani Callata | Caso de Estudio: I.E. Agropecuario Sorapa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Calibri"/>
              </a:defRPr>
            </a:pPr>
            <a:r>
              <a:t>Modelado de Procesos AS-IS / TO-BE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Proceso Actual (AS-IS)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Flujo: El estudiante detecta una duda en el texto, solicita ayuda levantando la mano y espera al docente. El docente atiende en cola (atención síncrona).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Punto Crítico: El docente funciona como procesador de un solo hilo (Single-Thread). Si atiende a un alumno, los demás quedan bloqueados en cola.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Métricas de la Línea Base:</a:t>
            </a:r>
            <a:br/>
            <a:r>
              <a:t>- Tiempo Medio de Espera (TMEC): 18 minutos.</a:t>
            </a:r>
            <a:br/>
            <a:r>
              <a:t>- Consultas No Resueltas (TCNR): 45% (especialmente fuera del colegio).</a:t>
            </a:r>
            <a:br/>
            <a:r>
              <a:t>- Disponibilidad de Soporte: 5 horas diarias.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Proceso Propuesto con YatiqApp (TO-BE)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Flujo Rediseñado: El estudiante realiza una consulta por voz a la app móvil. YatiqApp procesa STT -&gt; busca en RAG local -&gt; infiere en SLM -&gt; emite audio TTS de forma autónoma. El docente actúa como supervisor de segundo nivel.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Mejora Cuantificada:</a:t>
            </a:r>
            <a:br/>
            <a:r>
              <a:t>- Tiempo Medio de Espera (TMEC): Reducido de 18 min a menos de 2.5 segundos (reducción del 99.7%).</a:t>
            </a:r>
            <a:br/>
            <a:r>
              <a:t>- Disponibilidad de Soporte: 24/7 (offline en el hogar).</a:t>
            </a:r>
            <a:br/>
            <a:r>
              <a:t>- Tasa de Éxito de la IA (TEIA): Meta de 85% de dudas resueltas automáticamente.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YatiqApp | Gestión de TI (CE01) - Christian Rafael Mamani Callata | Caso de Estudio: I.E. Agropecuario Sorapa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Calibri"/>
              </a:defRPr>
            </a:pPr>
            <a:r>
              <a:t>Propuesta de Solución TIC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A365D"/>
                </a:solidFill>
              </a:defRPr>
            </a:pPr>
            <a:r>
              <a:t>Arquitectura Conceptual Híbrida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Paradigma Edge Computing: Procesamiento íntegro On-Device en el cliente móvil Android, sin depender de internet.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Capa de Presentación (UI/UX): Desarrollada en Flutter, recolecta y reproduce audios del estudiante.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Capa de Inferencia (AI Engine): Orquestada por bindings nativos C++/JNI. Ejecuta Whisper (STT), Piper (TTS) y el modelo optimizado Gemma-2B/Phi-3-mini a 4 bits.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Capa de Datos (Local Storage): Base vectorial SQLite embebida que busca fragmentos semánticos en local mediante similitud de cosenos.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Modelo de Integración Física (Offline)</a:t>
            </a:r>
          </a:p>
          <a:p>
            <a:pPr>
              <a:spcBef>
                <a:spcPts val="1000"/>
              </a:spcBef>
              <a:defRPr sz="1300">
                <a:solidFill>
                  <a:srgbClr val="2D3748"/>
                </a:solidFill>
              </a:defRPr>
            </a:pPr>
            <a:r>
              <a:t>• Local Gateway (I.E. Sorapa): Los dispositivos se conectan mediante Wi-Fi local a los APs del microcentro (CE03) para descargar APK y contenidos desde la computadora servidor sin consumir datos móviles.</a:t>
            </a:r>
          </a:p>
          <a:p>
            <a:pPr>
              <a:spcBef>
                <a:spcPts val="1000"/>
              </a:spcBef>
              <a:defRPr sz="1300">
                <a:solidFill>
                  <a:srgbClr val="2D3748"/>
                </a:solidFill>
              </a:defRPr>
            </a:pPr>
            <a:r>
              <a:t>• Propagación P2P: Transferencia del instalador y modelos directamente entre teléfonos de la comunidad mediante Wi-Fi Direct y Bluetooth.</a:t>
            </a:r>
          </a:p>
          <a:p>
            <a:pPr>
              <a:spcBef>
                <a:spcPts val="1000"/>
              </a:spcBef>
              <a:defRPr sz="1300">
                <a:solidFill>
                  <a:srgbClr val="2D3748"/>
                </a:solidFill>
              </a:defRPr>
            </a:pPr>
            <a:r>
              <a:t>• Sincronización Diferida (UGEL Juli): Actualización manual de contenidos escolares por el docente al acudir a un nodo de red físico (UGEL Chucuito).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18096"/>
                </a:solidFill>
                <a:latin typeface="Calibri"/>
              </a:defRPr>
            </a:pPr>
            <a:r>
              <a:t>YatiqApp | Gestión de TI (CE01) - Christian Rafael Mamani Callata | Caso de Estudio: I.E. Agropecuario Sorapa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Calibri"/>
              </a:defRPr>
            </a:pPr>
            <a:r>
              <a:t>Seguridad, Gobernanza y Escalabilidad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Gobernanza y Seguridad Local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Protección de Datos Personales (Ley N° 29733): Inferencia 100% en el dispositivo del usuario. Al no enviarse datos por red ni a la nube, se anulan riesgos de interceptación o almacenamiento de voz e interacciones de menores de edad.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Cifrado Local: Almacenamiento seguro de credenciales locales mediante código PIN cifrado y logs en reposo encriptados con AES-256.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Gobernanza Curricular: Todo contenido bilingüe incorporado a la base local requiere firma digital y aprobación de especialistas de la UGEL, asegurando fidelidad pedagógica.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b="1" sz="2000">
                <a:solidFill>
                  <a:srgbClr val="1A365D"/>
                </a:solidFill>
              </a:defRPr>
            </a:pPr>
            <a:r>
              <a:t>Escalabilidad y Sostenibilidad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Escalabilidad Horizontal Perfecta: La inferencia es ejecutada por el hardware móvil del usuario final. Añadir nuevos estudiantes no genera sobrecarga en un servidor central, logrando costo marginal de cómputo de S/. 0.00.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Sostenibilidad del Dataset: Proceso semestral de empaquetado y actualización vectorial asumido por especialistas curriculares de la UGEL Juli.</a:t>
            </a:r>
          </a:p>
          <a:p>
            <a:pPr>
              <a:spcBef>
                <a:spcPts val="800"/>
              </a:spcBef>
              <a:defRPr sz="1300">
                <a:solidFill>
                  <a:srgbClr val="2D3748"/>
                </a:solidFill>
              </a:defRPr>
            </a:pPr>
            <a:r>
              <a:t>• Evolución Tecnológica (Arquitectura Desacoplada): La app permite reemplazar el SLM por versiones más ligeras y eficientes en el futuro sin rediseñar la UI, extendiendo el ciclo de vida del software en terminales antiguos.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