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400">
                <a:solidFill>
                  <a:srgbClr val="38BDF8"/>
                </a:solidFill>
                <a:latin typeface="Segoe UI"/>
              </a:defRPr>
            </a:pPr>
            <a:r>
              <a:t>YatiqApp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IA para la Preservación de Lenguas Originarias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Línea de Evaluación CE02: Ingeniería de Software</a:t>
            </a:r>
            <a:br/>
            <a:r>
              <a:t>Responsable: Brayner Aníbal Mamani Calcina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La Brecha Lingüística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Más de 4 millones de personas hablan Quechua y Aymara en Perú y Bolivia, pero el 95% del ecosistema digital excluye estas lenguas.</a:t>
            </a:r>
          </a:p>
          <a:p>
            <a:br/>
            <a:pPr>
              <a:defRPr b="1" sz="2000">
                <a:solidFill>
                  <a:srgbClr val="F43F5E"/>
                </a:solidFill>
              </a:defRPr>
            </a:pPr>
            <a:r>
              <a:t>El Reto Tecnológico: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Los modelos de traducción de voz a voz requieren infraestructura masiva y no existen herramientas de IA accesibles y rápidas para el sector andino.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Impacto del Problema:</a:t>
            </a:r>
            <a:br/>
            <a:br/>
            <a:r>
              <a:t>• Pérdida Cultural</a:t>
            </a:r>
            <a:br/>
            <a:r>
              <a:t>• Exclusión Digital</a:t>
            </a:r>
            <a:br/>
            <a:r>
              <a:t>• Barreras Educativas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Arquitectura del Sistema (3-Tier)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828800" cy="182880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Capa 1:</a:t>
            </a:r>
          </a:p>
          <a:p>
            <a:r>
              <a:t>Frontend Móvil</a:t>
            </a:r>
          </a:p>
          <a:p>
            <a:r>
              <a:t>(Flutter / Dart)</a:t>
            </a:r>
          </a:p>
          <a:p/>
          <a:p>
            <a:r>
              <a:t>• UI Nativa</a:t>
            </a:r>
          </a:p>
          <a:p>
            <a:r>
              <a:t>• Micrófono</a:t>
            </a:r>
          </a:p>
          <a:p>
            <a:r>
              <a:t>• Base Local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3383280"/>
            <a:ext cx="731520" cy="54864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743200"/>
            <a:ext cx="1828800" cy="182880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Capa 2:</a:t>
            </a:r>
          </a:p>
          <a:p>
            <a:r>
              <a:t>Servidor Proxy</a:t>
            </a:r>
          </a:p>
          <a:p>
            <a:r>
              <a:t>(Laravel / PHP)</a:t>
            </a:r>
          </a:p>
          <a:p/>
          <a:p>
            <a:r>
              <a:t>• Gateway</a:t>
            </a:r>
          </a:p>
          <a:p>
            <a:r>
              <a:t>• Autenticación</a:t>
            </a:r>
          </a:p>
          <a:p>
            <a:r>
              <a:t>• Colas (Jobs)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3383280"/>
            <a:ext cx="731520" cy="54864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1828800" cy="18288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Capa 3:</a:t>
            </a:r>
          </a:p>
          <a:p>
            <a:r>
              <a:t>Inferencia AI</a:t>
            </a:r>
          </a:p>
          <a:p>
            <a:r>
              <a:t>(FastAPI / GPU)</a:t>
            </a:r>
          </a:p>
          <a:p/>
          <a:p>
            <a:r>
              <a:t>• PyTorch</a:t>
            </a:r>
          </a:p>
          <a:p>
            <a:r>
              <a:t>• Modelos SOTA</a:t>
            </a:r>
          </a:p>
          <a:p>
            <a:r>
              <a:t>• Latencia &lt;1s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Pipeline Inferencial (Voz a Voz)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9456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38BDF8"/>
                </a:solidFill>
              </a:defRPr>
            </a:pPr>
            <a:r>
              <a:t>1. ASR</a:t>
            </a:r>
          </a:p>
          <a:p>
            <a:br/>
            <a:pPr>
              <a:defRPr b="1" sz="2000">
                <a:solidFill>
                  <a:srgbClr val="FFFFFF"/>
                </a:solidFill>
              </a:defRPr>
            </a:pPr>
            <a:r>
              <a:t>Whisper Turbo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Voz Español </a:t>
            </a:r>
            <a:br/>
            <a:r>
              <a:t>a 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19456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38BDF8"/>
                </a:solidFill>
              </a:defRPr>
            </a:pPr>
            <a:r>
              <a:t>2. NMT</a:t>
            </a:r>
          </a:p>
          <a:p>
            <a:br/>
            <a:pPr>
              <a:defRPr b="1" sz="2000">
                <a:solidFill>
                  <a:srgbClr val="FFFFFF"/>
                </a:solidFill>
              </a:defRPr>
            </a:pPr>
            <a:r>
              <a:t>NLLB-200 + LoRA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Texto Español </a:t>
            </a:r>
            <a:br/>
            <a:r>
              <a:t>a Aimara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286000"/>
            <a:ext cx="219456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38BDF8"/>
                </a:solidFill>
              </a:defRPr>
            </a:pPr>
            <a:r>
              <a:t>3. TTS</a:t>
            </a:r>
          </a:p>
          <a:p>
            <a:br/>
            <a:pPr>
              <a:defRPr b="1" sz="2000">
                <a:solidFill>
                  <a:srgbClr val="FFFFFF"/>
                </a:solidFill>
              </a:defRPr>
            </a:pPr>
            <a:r>
              <a:t>Meta MMS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Texto Aimara </a:t>
            </a:r>
            <a:br/>
            <a:r>
              <a:t>a Voz (WAV)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Plataforma de Datos y Resiliencia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F172A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F172A"/>
                          </a:solidFill>
                        </a:defRPr>
                      </a:pPr>
                      <a:r>
                        <a:t>Tecnología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F172A"/>
                          </a:solidFill>
                        </a:defRPr>
                      </a:pPr>
                      <a:r>
                        <a:t>Propósito en el Sistema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Persistencia Móvil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SQLite / Hive (Dart)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Historial y lecciones Offline en el celular.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Base de Datos Web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SQLite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Portabilidad extrema. Sin demonios externos.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Orquestación (Colas)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Laravel DB Queue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Procesamiento asíncrono para Fine-Tuning.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Aseguramiento de Calidad (QA)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1. Tolerancia a Fallos y Seguridad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Privacidad total: Limpieza atómica de audios WAV temporales tras inferencia.</a:t>
            </a:r>
            <a:br/>
            <a:r>
              <a:t>• Protección de Endpoints web con Tokens CSRF y consultas preparadas (Anti-SQLi).</a:t>
            </a:r>
          </a:p>
          <a:p>
            <a:br/>
            <a:pPr>
              <a:defRPr b="1" sz="2400">
                <a:solidFill>
                  <a:srgbClr val="38BDF8"/>
                </a:solidFill>
              </a:defRPr>
            </a:pPr>
            <a:r>
              <a:t>2. Validación Científica de Modelos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Implementación del 'Model Arena' evaluando traducciones mediante métricas BLEU y ChrF++.</a:t>
            </a:r>
            <a:br/>
            <a:r>
              <a:t>• Visualización en tiempo real de la Curva de Pérdida (Loss Curve) con Chart.js.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8288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Segoe UI"/>
              </a:defRPr>
            </a:pPr>
            <a:r>
              <a:t>Plan de Evolución (Roadmap)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38BDF8"/>
                </a:solidFill>
              </a:defRPr>
            </a:pPr>
            <a:r>
              <a:t>Fase 1: Cloud AWS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Migración del servidor de GPU local a instancias EC2 (g5.xlarge) para alta disponibilidad concurrente.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73152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38BDF8"/>
                </a:solidFill>
              </a:defRPr>
            </a:pPr>
            <a:r>
              <a:t>Fase 2: Expansión Lingüística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Entrenamiento de adaptadores LoRA ligeros (14MB) para lenguas amazónicas: Shipibo-Conibo y Asháninka.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38BDF8"/>
                </a:solidFill>
              </a:defRPr>
            </a:pPr>
            <a:r>
              <a:t>Fase 3: Edge AI Móvil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Implementación de LLMs locales (Llama-3-8B) cuantizados a 4-bits para inferencia 100% offline en el celular.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38BDF8"/>
                </a:solidFill>
              </a:defRPr>
            </a:pPr>
            <a:r>
              <a:t>¡Muchas Gracias!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Preservando nuestra cultura con Inteligencia Artificial.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