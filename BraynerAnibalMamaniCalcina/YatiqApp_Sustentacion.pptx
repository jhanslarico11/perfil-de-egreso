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01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200" b="1">
                <a:solidFill>
                  <a:srgbClr val="38BDF8"/>
                </a:solidFill>
                <a:latin typeface="Arial"/>
              </a:defRPr>
            </a:pPr>
            <a:r>
              <a:t>YatiqApp</a:t>
            </a:r>
          </a:p>
          <a:p>
            <a:pPr>
              <a:spcBef>
                <a:spcPts val="1000"/>
              </a:spcBef>
              <a:defRPr sz="3200" b="1">
                <a:solidFill>
                  <a:srgbClr val="F1F5F9"/>
                </a:solidFill>
                <a:latin typeface="Arial"/>
              </a:defRPr>
            </a:pPr>
            <a:r>
              <a:t>Aprendizaje de Aimara y Quechua</a:t>
            </a:r>
          </a:p>
          <a:p>
            <a:pPr>
              <a:spcBef>
                <a:spcPts val="1500"/>
              </a:spcBef>
              <a:defRPr sz="1800">
                <a:solidFill>
                  <a:srgbClr val="94A3B8"/>
                </a:solidFill>
                <a:latin typeface="Arial"/>
              </a:defRPr>
            </a:pPr>
            <a:r>
              <a:t>Asistente Conversacional Inteligente para la Preservación Lingüística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4389120"/>
            <a:ext cx="685800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Línea de Evaluación: CE02 - Ingeniería de Software</a:t>
            </a:r>
          </a:p>
          <a:p>
            <a:pPr>
              <a:spcBef>
                <a:spcPts val="500"/>
              </a:spcBef>
              <a:defRPr sz="1600">
                <a:solidFill>
                  <a:srgbClr val="F1F5F9"/>
                </a:solidFill>
              </a:defRPr>
            </a:pPr>
            <a:r>
              <a:t>Responsable: Brayner Anibal Mamani Calcina</a:t>
            </a:r>
          </a:p>
          <a:p>
            <a:pPr>
              <a:spcBef>
                <a:spcPts val="500"/>
              </a:spcBef>
              <a:defRPr sz="1400">
                <a:solidFill>
                  <a:srgbClr val="94A3B8"/>
                </a:solidFill>
              </a:defRPr>
            </a:pPr>
            <a:r>
              <a:t>Universidad Nacional del Altiplano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38BDF8"/>
                </a:solidFill>
                <a:latin typeface="Arial"/>
              </a:defRPr>
            </a:pPr>
            <a:r>
              <a:t>El Problema y la Oportunidad de YatiqApp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63040"/>
            <a:ext cx="5120640" cy="45720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2400" b="1">
                <a:solidFill>
                  <a:srgbClr val="F97316"/>
                </a:solidFill>
              </a:defRPr>
            </a:pPr>
            <a:r>
              <a:t>❌ EL PROBLEMA</a:t>
            </a:r>
          </a:p>
          <a:p>
            <a:pPr>
              <a:spcBef>
                <a:spcPts val="1500"/>
              </a:spcBef>
              <a:defRPr sz="1600" b="1">
                <a:solidFill>
                  <a:srgbClr val="F1F5F9"/>
                </a:solidFill>
              </a:defRPr>
            </a:pPr>
            <a:r>
              <a:t>• Brecha de Inclusión Digital:</a:t>
            </a:r>
          </a:p>
          <a:p>
            <a:pPr>
              <a:spcBef>
                <a:spcPts val="200"/>
              </a:spcBef>
              <a:defRPr sz="1400">
                <a:solidFill>
                  <a:srgbClr val="94A3B8"/>
                </a:solidFill>
              </a:defRPr>
            </a:pPr>
            <a:r>
              <a:t>Más de 4 millones de peruanos y bolivianos que hablan aimara o quechua están marginados del ecosistema digital actual.</a:t>
            </a:r>
          </a:p>
          <a:p>
            <a:pPr>
              <a:spcBef>
                <a:spcPts val="1500"/>
              </a:spcBef>
              <a:defRPr sz="1600" b="1">
                <a:solidFill>
                  <a:srgbClr val="F1F5F9"/>
                </a:solidFill>
              </a:defRPr>
            </a:pPr>
            <a:r>
              <a:t>• Asistentes Inadecuados:</a:t>
            </a:r>
          </a:p>
          <a:p>
            <a:pPr>
              <a:spcBef>
                <a:spcPts val="200"/>
              </a:spcBef>
              <a:defRPr sz="1400">
                <a:solidFill>
                  <a:srgbClr val="94A3B8"/>
                </a:solidFill>
              </a:defRPr>
            </a:pPr>
            <a:r>
              <a:t>Herramientas líderes de mercado (Siri, Alexa, Google Translate) carecen de soporte de voz interactivo y fluido para lenguas andinas.</a:t>
            </a:r>
          </a:p>
          <a:p>
            <a:pPr>
              <a:spcBef>
                <a:spcPts val="1500"/>
              </a:spcBef>
              <a:defRPr sz="1600" b="1">
                <a:solidFill>
                  <a:srgbClr val="F1F5F9"/>
                </a:solidFill>
              </a:defRPr>
            </a:pPr>
            <a:r>
              <a:t>• Conectividad Nula en Zonas Rurales:</a:t>
            </a:r>
          </a:p>
          <a:p>
            <a:pPr>
              <a:spcBef>
                <a:spcPts val="200"/>
              </a:spcBef>
              <a:defRPr sz="1400">
                <a:solidFill>
                  <a:srgbClr val="94A3B8"/>
                </a:solidFill>
              </a:defRPr>
            </a:pPr>
            <a:r>
              <a:t>Las escuelas y comunidades de Puno no cuentan con internet estable, bloqueando soluciones basadas 100% en la nube.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82512" y="1463040"/>
            <a:ext cx="5120640" cy="45720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2400" b="1">
                <a:solidFill>
                  <a:srgbClr val="22C55E"/>
                </a:solidFill>
              </a:defRPr>
            </a:pPr>
            <a:r>
              <a:t>💡 LA PROPUESTA (YatiqApp)</a:t>
            </a:r>
          </a:p>
          <a:p>
            <a:pPr>
              <a:spcBef>
                <a:spcPts val="1500"/>
              </a:spcBef>
              <a:defRPr sz="1600" b="1">
                <a:solidFill>
                  <a:srgbClr val="F1F5F9"/>
                </a:solidFill>
              </a:defRPr>
            </a:pPr>
            <a:r>
              <a:t>• Inferencia Híbrida Inteligente:</a:t>
            </a:r>
          </a:p>
          <a:p>
            <a:pPr>
              <a:spcBef>
                <a:spcPts val="200"/>
              </a:spcBef>
              <a:defRPr sz="1400">
                <a:solidFill>
                  <a:srgbClr val="94A3B8"/>
                </a:solidFill>
              </a:defRPr>
            </a:pPr>
            <a:r>
              <a:t>Combinación de modelos locales de última generación (ASR, NMT, TTS) y APIs de LLM externas para orquestar la lógica conversacional.</a:t>
            </a:r>
          </a:p>
          <a:p>
            <a:pPr>
              <a:spcBef>
                <a:spcPts val="1500"/>
              </a:spcBef>
              <a:defRPr sz="1600" b="1">
                <a:solidFill>
                  <a:srgbClr val="F1F5F9"/>
                </a:solidFill>
              </a:defRPr>
            </a:pPr>
            <a:r>
              <a:t>• Aceleración por GPU Local:</a:t>
            </a:r>
          </a:p>
          <a:p>
            <a:pPr>
              <a:spcBef>
                <a:spcPts val="200"/>
              </a:spcBef>
              <a:defRPr sz="1400">
                <a:solidFill>
                  <a:srgbClr val="94A3B8"/>
                </a:solidFill>
              </a:defRPr>
            </a:pPr>
            <a:r>
              <a:t>Ejecución de modelos pesados de Machine Learning en hardware GPU (RTX 5060) logrando traducción en tiempo real (&lt;0.8 segundos).</a:t>
            </a:r>
          </a:p>
          <a:p>
            <a:pPr>
              <a:spcBef>
                <a:spcPts val="1500"/>
              </a:spcBef>
              <a:defRPr sz="1600" b="1">
                <a:solidFill>
                  <a:srgbClr val="F1F5F9"/>
                </a:solidFill>
              </a:defRPr>
            </a:pPr>
            <a:r>
              <a:t>• Resiliencia y Modo Offline:</a:t>
            </a:r>
          </a:p>
          <a:p>
            <a:pPr>
              <a:spcBef>
                <a:spcPts val="200"/>
              </a:spcBef>
              <a:defRPr sz="1400">
                <a:solidFill>
                  <a:srgbClr val="94A3B8"/>
                </a:solidFill>
              </a:defRPr>
            </a:pPr>
            <a:r>
              <a:t>Capacidad de realizar traducciones directas e interacciones locales sin requerir conectividad activa a internet.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38BDF8"/>
                </a:solidFill>
                <a:latin typeface="Arial"/>
              </a:defRPr>
            </a:pPr>
            <a:r>
              <a:t>Requerimientos de Software (CE021)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6304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2200" b="1">
                <a:solidFill>
                  <a:srgbClr val="38BDF8"/>
                </a:solidFill>
              </a:defRPr>
            </a:pPr>
            <a:r>
              <a:t>📋 Requerimientos Funcionales Clave</a:t>
            </a:r>
          </a:p>
          <a:p>
            <a:pPr>
              <a:spcBef>
                <a:spcPts val="1400"/>
              </a:spcBef>
              <a:defRPr sz="1500" b="1">
                <a:solidFill>
                  <a:srgbClr val="F1F5F9"/>
                </a:solidFill>
              </a:defRPr>
            </a:pPr>
            <a:r>
              <a:t>RF-01 Transcripción de Voz (ASR)</a:t>
            </a:r>
          </a:p>
          <a:p>
            <a:pPr>
              <a:spcBef>
                <a:spcPts val="200"/>
              </a:spcBef>
              <a:defRPr sz="1300">
                <a:solidFill>
                  <a:srgbClr val="94A3B8"/>
                </a:solidFill>
              </a:defRPr>
            </a:pPr>
            <a:r>
              <a:t>Conversión de audio del usuario a texto local con Whisper.</a:t>
            </a:r>
          </a:p>
          <a:p>
            <a:pPr>
              <a:spcBef>
                <a:spcPts val="1400"/>
              </a:spcBef>
              <a:defRPr sz="1500" b="1">
                <a:solidFill>
                  <a:srgbClr val="F1F5F9"/>
                </a:solidFill>
              </a:defRPr>
            </a:pPr>
            <a:r>
              <a:t>RF-02 Traducción Bidireccional</a:t>
            </a:r>
          </a:p>
          <a:p>
            <a:pPr>
              <a:spcBef>
                <a:spcPts val="200"/>
              </a:spcBef>
              <a:defRPr sz="1300">
                <a:solidFill>
                  <a:srgbClr val="94A3B8"/>
                </a:solidFill>
              </a:defRPr>
            </a:pPr>
            <a:r>
              <a:t>Traducción Español ↔ Aimara/Quechua mediante NLLB-200.</a:t>
            </a:r>
          </a:p>
          <a:p>
            <a:pPr>
              <a:spcBef>
                <a:spcPts val="1400"/>
              </a:spcBef>
              <a:defRPr sz="1500" b="1">
                <a:solidFill>
                  <a:srgbClr val="F1F5F9"/>
                </a:solidFill>
              </a:defRPr>
            </a:pPr>
            <a:r>
              <a:t>RF-03 Síntesis de Voz (TTS)</a:t>
            </a:r>
          </a:p>
          <a:p>
            <a:pPr>
              <a:spcBef>
                <a:spcPts val="200"/>
              </a:spcBef>
              <a:defRPr sz="1300">
                <a:solidFill>
                  <a:srgbClr val="94A3B8"/>
                </a:solidFill>
              </a:defRPr>
            </a:pPr>
            <a:r>
              <a:t>Conversión de la traducción a audio WAV nativo con Meta MMS.</a:t>
            </a:r>
          </a:p>
          <a:p>
            <a:pPr>
              <a:spcBef>
                <a:spcPts val="1400"/>
              </a:spcBef>
              <a:defRPr sz="1500" b="1">
                <a:solidFill>
                  <a:srgbClr val="F1F5F9"/>
                </a:solidFill>
              </a:defRPr>
            </a:pPr>
            <a:r>
              <a:t>RF-04 Asistente Inteligente Híbrido</a:t>
            </a:r>
          </a:p>
          <a:p>
            <a:pPr>
              <a:spcBef>
                <a:spcPts val="200"/>
              </a:spcBef>
              <a:defRPr sz="1300">
                <a:solidFill>
                  <a:srgbClr val="94A3B8"/>
                </a:solidFill>
              </a:defRPr>
            </a:pPr>
            <a:r>
              <a:t>Respuestas conversacionales fluidas utilizando Gemini API.</a:t>
            </a:r>
          </a:p>
          <a:p>
            <a:pPr>
              <a:spcBef>
                <a:spcPts val="1400"/>
              </a:spcBef>
              <a:defRPr sz="1500" b="1">
                <a:solidFill>
                  <a:srgbClr val="F1F5F9"/>
                </a:solidFill>
              </a:defRPr>
            </a:pPr>
            <a:r>
              <a:t>RF-08 Lecciones e Interactividad (LMS)</a:t>
            </a:r>
          </a:p>
          <a:p>
            <a:pPr>
              <a:spcBef>
                <a:spcPts val="200"/>
              </a:spcBef>
              <a:defRPr sz="1300">
                <a:solidFill>
                  <a:srgbClr val="94A3B8"/>
                </a:solidFill>
              </a:defRPr>
            </a:pPr>
            <a:r>
              <a:t>Módulos educativos estructurados para el auto-aprendizaje.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82512" y="146304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2200" b="1">
                <a:solidFill>
                  <a:srgbClr val="38BDF8"/>
                </a:solidFill>
              </a:defRPr>
            </a:pPr>
            <a:r>
              <a:t>⚡ Requerimientos No Funcionales</a:t>
            </a:r>
          </a:p>
          <a:p>
            <a:pPr>
              <a:spcBef>
                <a:spcPts val="1400"/>
              </a:spcBef>
              <a:defRPr sz="1500" b="1">
                <a:solidFill>
                  <a:srgbClr val="F1F5F9"/>
                </a:solidFill>
              </a:defRPr>
            </a:pPr>
            <a:r>
              <a:t>RNF-01 Latencia y Velocidad</a:t>
            </a:r>
          </a:p>
          <a:p>
            <a:pPr>
              <a:spcBef>
                <a:spcPts val="200"/>
              </a:spcBef>
              <a:defRPr sz="1300">
                <a:solidFill>
                  <a:srgbClr val="94A3B8"/>
                </a:solidFill>
              </a:defRPr>
            </a:pPr>
            <a:r>
              <a:t>Pipeline inferencial completo en menos de 1.0s con aceleración CUDA.</a:t>
            </a:r>
          </a:p>
          <a:p>
            <a:pPr>
              <a:spcBef>
                <a:spcPts val="1400"/>
              </a:spcBef>
              <a:defRPr sz="1500" b="1">
                <a:solidFill>
                  <a:srgbClr val="F1F5F9"/>
                </a:solidFill>
              </a:defRPr>
            </a:pPr>
            <a:r>
              <a:t>RNF-02 Backend Asíncrono</a:t>
            </a:r>
          </a:p>
          <a:p>
            <a:pPr>
              <a:spcBef>
                <a:spcPts val="200"/>
              </a:spcBef>
              <a:defRPr sz="1300">
                <a:solidFill>
                  <a:srgbClr val="94A3B8"/>
                </a:solidFill>
              </a:defRPr>
            </a:pPr>
            <a:r>
              <a:t>Servidor de alto rendimiento FastAPI para concurrencia multi-cliente.</a:t>
            </a:r>
          </a:p>
          <a:p>
            <a:pPr>
              <a:spcBef>
                <a:spcPts val="1400"/>
              </a:spcBef>
              <a:defRPr sz="1500" b="1">
                <a:solidFill>
                  <a:srgbClr val="F1F5F9"/>
                </a:solidFill>
              </a:defRPr>
            </a:pPr>
            <a:r>
              <a:t>RNF-03 Portabilidad</a:t>
            </a:r>
          </a:p>
          <a:p>
            <a:pPr>
              <a:spcBef>
                <a:spcPts val="200"/>
              </a:spcBef>
              <a:defRPr sz="1300">
                <a:solidFill>
                  <a:srgbClr val="94A3B8"/>
                </a:solidFill>
              </a:defRPr>
            </a:pPr>
            <a:r>
              <a:t>Aplicación multiplataforma en Flutter para Android e iOS.</a:t>
            </a:r>
          </a:p>
          <a:p>
            <a:pPr>
              <a:spcBef>
                <a:spcPts val="1400"/>
              </a:spcBef>
              <a:defRPr sz="1500" b="1">
                <a:solidFill>
                  <a:srgbClr val="F1F5F9"/>
                </a:solidFill>
              </a:defRPr>
            </a:pPr>
            <a:r>
              <a:t>RNF-05 Operación Offline</a:t>
            </a:r>
          </a:p>
          <a:p>
            <a:pPr>
              <a:spcBef>
                <a:spcPts val="200"/>
              </a:spcBef>
              <a:defRPr sz="1300">
                <a:solidFill>
                  <a:srgbClr val="94A3B8"/>
                </a:solidFill>
              </a:defRPr>
            </a:pPr>
            <a:r>
              <a:t>Lecciones y traducciones básicas almacenadas localmente en SQLite.</a:t>
            </a:r>
          </a:p>
          <a:p>
            <a:pPr>
              <a:spcBef>
                <a:spcPts val="1400"/>
              </a:spcBef>
              <a:defRPr sz="1500" b="1">
                <a:solidFill>
                  <a:srgbClr val="F1F5F9"/>
                </a:solidFill>
              </a:defRPr>
            </a:pPr>
            <a:r>
              <a:t>RNF-06 Tiempo de Síntesis</a:t>
            </a:r>
          </a:p>
          <a:p>
            <a:pPr>
              <a:spcBef>
                <a:spcPts val="200"/>
              </a:spcBef>
              <a:defRPr sz="1300">
                <a:solidFill>
                  <a:srgbClr val="94A3B8"/>
                </a:solidFill>
              </a:defRPr>
            </a:pPr>
            <a:r>
              <a:t>Generación de ondas WAV por MMS TTS en menos de 400ms.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38BDF8"/>
                </a:solidFill>
                <a:latin typeface="Arial"/>
              </a:defRPr>
            </a:pPr>
            <a:r>
              <a:t>Arquitectura de Integración de Componentes (CE023)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3200400" cy="20116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📱 Frontend Móvil / Web</a:t>
            </a:r>
          </a:p>
          <a:p>
            <a:pPr algn="ctr">
              <a:spcBef>
                <a:spcPts val="1200"/>
              </a:spcBef>
              <a:defRPr sz="1500">
                <a:solidFill>
                  <a:srgbClr val="F1F5F9"/>
                </a:solidFill>
              </a:defRPr>
            </a:pPr>
            <a:r>
              <a:t>Flutter (Dart)</a:t>
            </a:r>
            <a:br/>
            <a:r>
              <a:t>Laravel Blade Views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0" y="1645920"/>
            <a:ext cx="3200400" cy="20116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defRPr sz="1800" b="1">
                <a:solidFill>
                  <a:srgbClr val="F97316"/>
                </a:solidFill>
              </a:defRPr>
            </a:pPr>
            <a:r>
              <a:t>🛡️ Proxy / Web Server</a:t>
            </a:r>
          </a:p>
          <a:p>
            <a:pPr algn="ctr">
              <a:spcBef>
                <a:spcPts val="1200"/>
              </a:spcBef>
              <a:defRPr sz="1500">
                <a:solidFill>
                  <a:srgbClr val="F1F5F9"/>
                </a:solidFill>
              </a:defRPr>
            </a:pPr>
            <a:r>
              <a:t>Laravel 11 Gateway</a:t>
            </a:r>
            <a:br/>
            <a:r>
              <a:t>Seguridad y Cookies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75320" y="1645920"/>
            <a:ext cx="3200400" cy="20116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defRPr sz="1800" b="1">
                <a:solidFill>
                  <a:srgbClr val="22C55E"/>
                </a:solidFill>
              </a:defRPr>
            </a:pPr>
            <a:r>
              <a:t>⚡ Backend Inferencial</a:t>
            </a:r>
          </a:p>
          <a:p>
            <a:pPr algn="ctr">
              <a:spcBef>
                <a:spcPts val="1200"/>
              </a:spcBef>
              <a:defRPr sz="1500">
                <a:solidFill>
                  <a:srgbClr val="F1F5F9"/>
                </a:solidFill>
              </a:defRPr>
            </a:pPr>
            <a:r>
              <a:t>FastAPI (Python)</a:t>
            </a:r>
            <a:br/>
            <a:r>
              <a:t>Uvicorn Asíncrono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977639" y="2468880"/>
            <a:ext cx="411480" cy="36576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ight Arrow 7"/>
          <p:cNvSpPr/>
          <p:nvPr/>
        </p:nvSpPr>
        <p:spPr>
          <a:xfrm>
            <a:off x="7772400" y="2468880"/>
            <a:ext cx="411480" cy="36576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4114800"/>
            <a:ext cx="10817352" cy="1920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228600"/>
          <a:lstStyle/>
          <a:p>
            <a:pPr algn="ctr">
              <a:defRPr sz="2000" b="1">
                <a:solidFill>
                  <a:srgbClr val="38BDF8"/>
                </a:solidFill>
              </a:defRPr>
            </a:pPr>
            <a:r>
              <a:t>🧠 Pipeline de Inferencia en Cascada (FastAPI + GPU CUDA)</a:t>
            </a:r>
          </a:p>
          <a:p>
            <a:pPr>
              <a:spcBef>
                <a:spcPts val="1000"/>
              </a:spcBef>
              <a:defRPr sz="1400">
                <a:solidFill>
                  <a:srgbClr val="F1F5F9"/>
                </a:solidFill>
              </a:defRPr>
            </a:pPr>
            <a:r>
              <a:t>1. Reconocimiento de Voz (ASR): OpenAI Whisper Large V3 Turbo transcribe audio WAV a texto.</a:t>
            </a:r>
          </a:p>
          <a:p>
            <a:pPr>
              <a:spcBef>
                <a:spcPts val="500"/>
              </a:spcBef>
              <a:defRPr sz="1400">
                <a:solidFill>
                  <a:srgbClr val="F1F5F9"/>
                </a:solidFill>
              </a:defRPr>
            </a:pPr>
            <a:r>
              <a:t>2. Traducción Neuronal (NMT): Meta NLLB-200 + Adaptadores LoRA traduce a Aimara/Quechua.</a:t>
            </a:r>
          </a:p>
          <a:p>
            <a:pPr>
              <a:spcBef>
                <a:spcPts val="500"/>
              </a:spcBef>
              <a:defRPr sz="1400">
                <a:solidFill>
                  <a:srgbClr val="F1F5F9"/>
                </a:solidFill>
              </a:defRPr>
            </a:pPr>
            <a:r>
              <a:t>3. Síntesis de Voz (TTS): Meta MMS (Massively Multilingual Speech) genera archivo de audio en lengua originaria.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38BDF8"/>
                </a:solidFill>
                <a:latin typeface="Arial"/>
              </a:defRPr>
            </a:pPr>
            <a:r>
              <a:t>Plataforma de Datos y Persistencia (CE022)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6304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2200" b="1">
                <a:solidFill>
                  <a:srgbClr val="38BDF8"/>
                </a:solidFill>
              </a:defRPr>
            </a:pPr>
            <a:r>
              <a:t>⚙️ Base de Datos Embebida (SQLite 3)</a:t>
            </a:r>
          </a:p>
          <a:p>
            <a:pPr>
              <a:spcBef>
                <a:spcPts val="1500"/>
              </a:spcBef>
              <a:defRPr sz="1500" b="1">
                <a:solidFill>
                  <a:srgbClr val="F1F5F9"/>
                </a:solidFill>
              </a:defRPr>
            </a:pPr>
            <a:r>
              <a:t>• Cero Administración de Servidores:</a:t>
            </a:r>
          </a:p>
          <a:p>
            <a:pPr>
              <a:spcBef>
                <a:spcPts val="200"/>
              </a:spcBef>
              <a:defRPr sz="1300">
                <a:solidFill>
                  <a:srgbClr val="94A3B8"/>
                </a:solidFill>
              </a:defRPr>
            </a:pPr>
            <a:r>
              <a:t>SQLite elimina la necesidad de procesos en segundo plano independientes, facilitando la portabilidad mediante un único archivo físico</a:t>
            </a:r>
          </a:p>
          <a:p>
            <a:pPr>
              <a:spcBef>
                <a:spcPts val="1500"/>
              </a:spcBef>
              <a:defRPr sz="1500" b="1">
                <a:solidFill>
                  <a:srgbClr val="F1F5F9"/>
                </a:solidFill>
              </a:defRPr>
            </a:pPr>
            <a:r>
              <a:t>• Garantías ACID:</a:t>
            </a:r>
          </a:p>
          <a:p>
            <a:pPr>
              <a:spcBef>
                <a:spcPts val="200"/>
              </a:spcBef>
              <a:defRPr sz="1300">
                <a:solidFill>
                  <a:srgbClr val="94A3B8"/>
                </a:solidFill>
              </a:defRPr>
            </a:pPr>
            <a:r>
              <a:t>Asegura atomicidad y consistencia de las transacciones, ideal para la gestión local de colas e historial.</a:t>
            </a:r>
          </a:p>
          <a:p>
            <a:pPr>
              <a:spcBef>
                <a:spcPts val="1500"/>
              </a:spcBef>
              <a:defRPr sz="1500" b="1">
                <a:solidFill>
                  <a:srgbClr val="F1F5F9"/>
                </a:solidFill>
              </a:defRPr>
            </a:pPr>
            <a:r>
              <a:t>• Bajo Consumo de RAM:</a:t>
            </a:r>
          </a:p>
          <a:p>
            <a:pPr>
              <a:spcBef>
                <a:spcPts val="200"/>
              </a:spcBef>
              <a:defRPr sz="1300">
                <a:solidFill>
                  <a:srgbClr val="94A3B8"/>
                </a:solidFill>
              </a:defRPr>
            </a:pPr>
            <a:r>
              <a:t>Libera la memoria del servidor para dedicarla al almacenamiento de los modelos deep learning.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82512" y="146304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2200" b="1">
                <a:solidFill>
                  <a:srgbClr val="38BDF8"/>
                </a:solidFill>
              </a:defRPr>
            </a:pPr>
            <a:r>
              <a:t>🔄 Gestión de Tareas Asíncronas y VRAM</a:t>
            </a:r>
          </a:p>
          <a:p>
            <a:pPr>
              <a:spcBef>
                <a:spcPts val="1500"/>
              </a:spcBef>
              <a:defRPr sz="1500" b="1">
                <a:solidFill>
                  <a:srgbClr val="F1F5F9"/>
                </a:solidFill>
              </a:defRPr>
            </a:pPr>
            <a:r>
              <a:t>• Cola Persistente (jobs):</a:t>
            </a:r>
          </a:p>
          <a:p>
            <a:pPr>
              <a:spcBef>
                <a:spcPts val="200"/>
              </a:spcBef>
              <a:defRPr sz="1300">
                <a:solidFill>
                  <a:srgbClr val="94A3B8"/>
                </a:solidFill>
              </a:defRPr>
            </a:pPr>
            <a:r>
              <a:t>Laravel utiliza SQLite para encolar el re-entrenamiento del traductor (fine-tuning), evitando caídas o cuelgues del proceso web principal.</a:t>
            </a:r>
          </a:p>
          <a:p>
            <a:pPr>
              <a:spcBef>
                <a:spcPts val="1500"/>
              </a:spcBef>
              <a:defRPr sz="1500" b="1">
                <a:solidFill>
                  <a:srgbClr val="F1F5F9"/>
                </a:solidFill>
              </a:defRPr>
            </a:pPr>
            <a:r>
              <a:t>• Mecanismo Mutex (cache_locks):</a:t>
            </a:r>
          </a:p>
          <a:p>
            <a:pPr>
              <a:spcBef>
                <a:spcPts val="200"/>
              </a:spcBef>
              <a:defRPr sz="1300">
                <a:solidFill>
                  <a:srgbClr val="94A3B8"/>
                </a:solidFill>
              </a:defRPr>
            </a:pPr>
            <a:r>
              <a:t>Semáforo atómico en base de datos que restringe el acceso concurrente a la GPU CUDA, previniendo excepciones de desbordamiento de VRAM.</a:t>
            </a:r>
          </a:p>
          <a:p>
            <a:pPr>
              <a:spcBef>
                <a:spcPts val="1500"/>
              </a:spcBef>
              <a:defRPr sz="1500" b="1">
                <a:solidFill>
                  <a:srgbClr val="F1F5F9"/>
                </a:solidFill>
              </a:defRPr>
            </a:pPr>
            <a:r>
              <a:t>• Historial y Caché:</a:t>
            </a:r>
          </a:p>
          <a:p>
            <a:pPr>
              <a:spcBef>
                <a:spcPts val="200"/>
              </a:spcBef>
              <a:defRPr sz="1300">
                <a:solidFill>
                  <a:srgbClr val="94A3B8"/>
                </a:solidFill>
              </a:defRPr>
            </a:pPr>
            <a:r>
              <a:t>Persistencia local de traducciones frecuentes para acelerar tiempos de respuesta.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38BDF8"/>
                </a:solidFill>
                <a:latin typeface="Arial"/>
              </a:defRPr>
            </a:pPr>
            <a:r>
              <a:t>Aseguramiento de Calidad y Seguridad (CE024)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6304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2200" b="1">
                <a:solidFill>
                  <a:srgbClr val="22C55E"/>
                </a:solidFill>
              </a:defRPr>
            </a:pPr>
            <a:r>
              <a:t>🧪 Pruebas Funcionales (100% OK)</a:t>
            </a:r>
          </a:p>
          <a:p>
            <a:pPr>
              <a:spcBef>
                <a:spcPts val="1400"/>
              </a:spcBef>
              <a:defRPr sz="1500" b="1">
                <a:solidFill>
                  <a:srgbClr val="F1F5F9"/>
                </a:solidFill>
              </a:defRPr>
            </a:pPr>
            <a:r>
              <a:t>✓ TC-01 Traducción de Texto</a:t>
            </a:r>
          </a:p>
          <a:p>
            <a:pPr>
              <a:spcBef>
                <a:spcPts val="200"/>
              </a:spcBef>
              <a:defRPr sz="1300">
                <a:solidFill>
                  <a:srgbClr val="94A3B8"/>
                </a:solidFill>
              </a:defRPr>
            </a:pPr>
            <a:r>
              <a:t>Validado Español ↔ Aimara/Quechua.</a:t>
            </a:r>
          </a:p>
          <a:p>
            <a:pPr>
              <a:spcBef>
                <a:spcPts val="1400"/>
              </a:spcBef>
              <a:defRPr sz="1500" b="1">
                <a:solidFill>
                  <a:srgbClr val="F1F5F9"/>
                </a:solidFill>
              </a:defRPr>
            </a:pPr>
            <a:r>
              <a:t>✓ TC-02 Traducción de Voz</a:t>
            </a:r>
          </a:p>
          <a:p>
            <a:pPr>
              <a:spcBef>
                <a:spcPts val="200"/>
              </a:spcBef>
              <a:defRPr sz="1300">
                <a:solidFill>
                  <a:srgbClr val="94A3B8"/>
                </a:solidFill>
              </a:defRPr>
            </a:pPr>
            <a:r>
              <a:t>Whisper ASR y MMS TTS integrados.</a:t>
            </a:r>
          </a:p>
          <a:p>
            <a:pPr>
              <a:spcBef>
                <a:spcPts val="1400"/>
              </a:spcBef>
              <a:defRPr sz="1500" b="1">
                <a:solidFill>
                  <a:srgbClr val="F1F5F9"/>
                </a:solidFill>
              </a:defRPr>
            </a:pPr>
            <a:r>
              <a:t>✓ TC-03 Model Arena</a:t>
            </a:r>
          </a:p>
          <a:p>
            <a:pPr>
              <a:spcBef>
                <a:spcPts val="200"/>
              </a:spcBef>
              <a:defRPr sz="1300">
                <a:solidFill>
                  <a:srgbClr val="94A3B8"/>
                </a:solidFill>
              </a:defRPr>
            </a:pPr>
            <a:r>
              <a:t>Comparador de adaptadores LoRA y base.</a:t>
            </a:r>
          </a:p>
          <a:p>
            <a:pPr>
              <a:spcBef>
                <a:spcPts val="1400"/>
              </a:spcBef>
              <a:defRPr sz="1500" b="1">
                <a:solidFill>
                  <a:srgbClr val="F1F5F9"/>
                </a:solidFill>
              </a:defRPr>
            </a:pPr>
            <a:r>
              <a:t>✓ TC-05 Gráfica de Convergencia</a:t>
            </a:r>
          </a:p>
          <a:p>
            <a:pPr>
              <a:spcBef>
                <a:spcPts val="200"/>
              </a:spcBef>
              <a:defRPr sz="1300">
                <a:solidFill>
                  <a:srgbClr val="94A3B8"/>
                </a:solidFill>
              </a:defRPr>
            </a:pPr>
            <a:r>
              <a:t>Monitoreo visual de la curva de pérdida de entrenamiento.</a:t>
            </a:r>
          </a:p>
          <a:p>
            <a:pPr>
              <a:spcBef>
                <a:spcPts val="1400"/>
              </a:spcBef>
              <a:defRPr sz="1500" b="1">
                <a:solidFill>
                  <a:srgbClr val="F1F5F9"/>
                </a:solidFill>
              </a:defRPr>
            </a:pPr>
            <a:r>
              <a:t>✓ TC-07 Historial Móvil</a:t>
            </a:r>
          </a:p>
          <a:p>
            <a:pPr>
              <a:spcBef>
                <a:spcPts val="200"/>
              </a:spcBef>
              <a:defRPr sz="1300">
                <a:solidFill>
                  <a:srgbClr val="94A3B8"/>
                </a:solidFill>
              </a:defRPr>
            </a:pPr>
            <a:r>
              <a:t>Persistencia local en base de datos SQLite.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82512" y="146304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2200" b="1">
                <a:solidFill>
                  <a:srgbClr val="38BDF8"/>
                </a:solidFill>
              </a:defRPr>
            </a:pPr>
            <a:r>
              <a:t>🛡️ Seguridad y Resiliencia</a:t>
            </a:r>
          </a:p>
          <a:p>
            <a:pPr>
              <a:spcBef>
                <a:spcPts val="1500"/>
              </a:spcBef>
              <a:defRPr sz="1500" b="1">
                <a:solidFill>
                  <a:srgbClr val="F1F5F9"/>
                </a:solidFill>
              </a:defRPr>
            </a:pPr>
            <a:r>
              <a:t>• Tolerancia a Ruido y Formatos:</a:t>
            </a:r>
          </a:p>
          <a:p>
            <a:pPr>
              <a:spcBef>
                <a:spcPts val="200"/>
              </a:spcBef>
              <a:defRPr sz="1300">
                <a:solidFill>
                  <a:srgbClr val="94A3B8"/>
                </a:solidFill>
              </a:defRPr>
            </a:pPr>
            <a:r>
              <a:t>Conversión automática de canales de audio a mono 16kHz y float32; suspensión inteligente en audios vacíos.</a:t>
            </a:r>
          </a:p>
          <a:p>
            <a:pPr>
              <a:spcBef>
                <a:spcPts val="1500"/>
              </a:spcBef>
              <a:defRPr sz="1500" b="1">
                <a:solidFill>
                  <a:srgbClr val="F1F5F9"/>
                </a:solidFill>
              </a:defRPr>
            </a:pPr>
            <a:r>
              <a:t>• Limpieza Atómica de Datos:</a:t>
            </a:r>
          </a:p>
          <a:p>
            <a:pPr>
              <a:spcBef>
                <a:spcPts val="200"/>
              </a:spcBef>
              <a:defRPr sz="1300">
                <a:solidFill>
                  <a:srgbClr val="94A3B8"/>
                </a:solidFill>
              </a:defRPr>
            </a:pPr>
            <a:r>
              <a:t>Eliminación física inmediata de los archivos de voz (.wav) temporales tras la inferencia para proteger la privacidad del usuario.</a:t>
            </a:r>
          </a:p>
          <a:p>
            <a:pPr>
              <a:spcBef>
                <a:spcPts val="1500"/>
              </a:spcBef>
              <a:defRPr sz="1500" b="1">
                <a:solidFill>
                  <a:srgbClr val="F1F5F9"/>
                </a:solidFill>
              </a:defRPr>
            </a:pPr>
            <a:r>
              <a:t>• Prevención SQL/CSRF:</a:t>
            </a:r>
          </a:p>
          <a:p>
            <a:pPr>
              <a:spcBef>
                <a:spcPts val="200"/>
              </a:spcBef>
              <a:defRPr sz="1300">
                <a:solidFill>
                  <a:srgbClr val="94A3B8"/>
                </a:solidFill>
              </a:defRPr>
            </a:pPr>
            <a:r>
              <a:t>Sentencias preparadas nativas del ORM Eloquent y tokens de seguridad CSRF inyectados en Laravel web.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38BDF8"/>
                </a:solidFill>
                <a:latin typeface="Arial"/>
              </a:defRPr>
            </a:pPr>
            <a:r>
              <a:t>Guía de Demostración en Vivo (CE0217)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011680"/>
            <a:ext cx="1920240" cy="3657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0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1. Inicio Consola</a:t>
            </a:r>
          </a:p>
          <a:p>
            <a:pPr algn="ctr">
              <a:spcBef>
                <a:spcPts val="1500"/>
              </a:spcBef>
              <a:defRPr sz="1300">
                <a:solidFill>
                  <a:srgbClr val="F1F5F9"/>
                </a:solidFill>
              </a:defRPr>
            </a:pPr>
            <a:r>
              <a:t>Ejecutar servidores localmente (FastAPI en puerto 8000, Laravel en 8080).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2011680"/>
            <a:ext cx="1920240" cy="3657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0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2. Traducción Voz</a:t>
            </a:r>
          </a:p>
          <a:p>
            <a:pPr algn="ctr">
              <a:spcBef>
                <a:spcPts val="1500"/>
              </a:spcBef>
              <a:defRPr sz="1300">
                <a:solidFill>
                  <a:srgbClr val="F1F5F9"/>
                </a:solidFill>
              </a:defRPr>
            </a:pPr>
            <a:r>
              <a:t>Hablar al micrófono; transcripción Whisper y reproducción por MMS TTS en &lt;0.8s.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66360" y="2011680"/>
            <a:ext cx="1920240" cy="3657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0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3. Model Arena</a:t>
            </a:r>
          </a:p>
          <a:p>
            <a:pPr algn="ctr">
              <a:spcBef>
                <a:spcPts val="1500"/>
              </a:spcBef>
              <a:defRPr sz="1300">
                <a:solidFill>
                  <a:srgbClr val="F1F5F9"/>
                </a:solidFill>
              </a:defRPr>
            </a:pPr>
            <a:r>
              <a:t>Acceder a `/compare` para contrastar métricas BLEU y ChrF++ de adaptadores LoRA.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0" y="2011680"/>
            <a:ext cx="1920240" cy="3657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0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4. Loss Curve</a:t>
            </a:r>
          </a:p>
          <a:p>
            <a:pPr algn="ctr">
              <a:spcBef>
                <a:spcPts val="1500"/>
              </a:spcBef>
              <a:defRPr sz="1300">
                <a:solidFill>
                  <a:srgbClr val="F1F5F9"/>
                </a:solidFill>
              </a:defRPr>
            </a:pPr>
            <a:r>
              <a:t>Revisar gráficas de convergencia históricas en tiempo real en `/reports`.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46920" y="2011680"/>
            <a:ext cx="1920240" cy="3657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0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5. Demo Móvil</a:t>
            </a:r>
          </a:p>
          <a:p>
            <a:pPr algn="ctr">
              <a:spcBef>
                <a:spcPts val="1500"/>
              </a:spcBef>
              <a:defRPr sz="1300">
                <a:solidFill>
                  <a:srgbClr val="F1F5F9"/>
                </a:solidFill>
              </a:defRPr>
            </a:pPr>
            <a:r>
              <a:t>Proyectar Flutter en Android físico; probar traducción por voz offline sin internet.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38BDF8"/>
                </a:solidFill>
                <a:latin typeface="Arial"/>
              </a:defRPr>
            </a:pPr>
            <a:r>
              <a:t>Roadmap de Evolución Tecnológica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10817352" cy="1188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🚀 Fase 1: Migración a la Nube (AWS)</a:t>
            </a:r>
          </a:p>
          <a:p>
            <a:pPr>
              <a:spcBef>
                <a:spcPts val="500"/>
              </a:spcBef>
              <a:defRPr sz="1400">
                <a:solidFill>
                  <a:srgbClr val="F1F5F9"/>
                </a:solidFill>
              </a:defRPr>
            </a:pPr>
            <a:r>
              <a:t>Despliegue de la API inferencial en FastAPI sobre instancias GPU AWS EC2 (g5.xlarge NVIDIA A10G) para soportar múltiples clientes en paralelo con alta escalabilidad.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3108960"/>
            <a:ext cx="10817352" cy="1188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🌱 Fase 2: Expansión Lingüística</a:t>
            </a:r>
          </a:p>
          <a:p>
            <a:pPr>
              <a:spcBef>
                <a:spcPts val="500"/>
              </a:spcBef>
              <a:defRPr sz="1400">
                <a:solidFill>
                  <a:srgbClr val="F1F5F9"/>
                </a:solidFill>
              </a:defRPr>
            </a:pPr>
            <a:r>
              <a:t>Inclusión de nuevas lenguas nativas peruanas (Shipibo-Conibo y Asháninka) mediante adaptadores LoRA ligeros (~14MB) listos para intercambio caliente en caliente (hot-swapping).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4572000"/>
            <a:ext cx="10817352" cy="1188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🧠 Fase 3: LLM Conversacional Local</a:t>
            </a:r>
          </a:p>
          <a:p>
            <a:pPr>
              <a:spcBef>
                <a:spcPts val="500"/>
              </a:spcBef>
              <a:defRPr sz="1400">
                <a:solidFill>
                  <a:srgbClr val="F1F5F9"/>
                </a:solidFill>
              </a:defRPr>
            </a:pPr>
            <a:r>
              <a:t>Entrenamiento e integración de modelos de lenguaje locales (Llama-3-8B cuantizado en 4-bit) para correr sin conexión a internet y reemplazar las llamadas externas de Gemini/OpenAI.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